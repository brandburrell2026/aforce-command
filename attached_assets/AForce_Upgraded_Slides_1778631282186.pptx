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4A7F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A7FD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7FD4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4A7FD4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2026</c:v>
                  </c:pt>
                  <c:pt idx="1">
                    <c:v>2027</c:v>
                  </c:pt>
                  <c:pt idx="2">
                    <c:v>2028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3.2</c:v>
                </c:pt>
                <c:pt idx="1">
                  <c:v>13</c:v>
                </c:pt>
                <c:pt idx="2">
                  <c:v>27.8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8A9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3810" cap="flat">
              <a:solidFill>
                <a:srgbClr val="3A3A4A"/>
              </a:solidFill>
              <a:prstDash val="solid"/>
              <a:round/>
            </a:ln>
          </c:spPr>
        </c:majorGridlines>
        <c:numFmt formatCode="$#&quot;M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A8A9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31318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E83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— TRACTION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2011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17A / 24+5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475488"/>
            <a:ext cx="228600" cy="27432"/>
          </a:xfrm>
          <a:prstGeom prst="rect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0292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Proof before launch.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73152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Momentum before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E83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launch.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274320" y="1691640"/>
            <a:ext cx="2057400" cy="1325880"/>
          </a:xfrm>
          <a:prstGeom prst="rect">
            <a:avLst/>
          </a:prstGeom>
          <a:solidFill>
            <a:srgbClr val="131318"/>
          </a:solidFill>
          <a:ln w="6350">
            <a:solidFill>
              <a:srgbClr val="3A3A4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691640"/>
            <a:ext cx="2057400" cy="32004"/>
          </a:xfrm>
          <a:prstGeom prst="rect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7830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E83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CAPITAL CLOSED</a:t>
            </a:r>
            <a:endParaRPr lang="en-US" sz="700" dirty="0"/>
          </a:p>
        </p:txBody>
      </p:sp>
      <p:sp>
        <p:nvSpPr>
          <p:cNvPr id="10" name="Text 8"/>
          <p:cNvSpPr/>
          <p:nvPr/>
        </p:nvSpPr>
        <p:spPr>
          <a:xfrm>
            <a:off x="365760" y="19659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$832K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365760" y="25420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Friends &amp; family pre-seed · Q1 2026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50592" y="1691640"/>
            <a:ext cx="2057400" cy="1325880"/>
          </a:xfrm>
          <a:prstGeom prst="rect">
            <a:avLst/>
          </a:prstGeom>
          <a:solidFill>
            <a:srgbClr val="131318"/>
          </a:solidFill>
          <a:ln w="6350">
            <a:solidFill>
              <a:srgbClr val="3A3A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50592" y="1691640"/>
            <a:ext cx="2057400" cy="32004"/>
          </a:xfrm>
          <a:prstGeom prst="rect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87752" y="17830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4A7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LAUNCH CREATORS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2542032" y="19659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179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2542032" y="25420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TikTok + Instagram + YouTube · Signed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26864" y="1691640"/>
            <a:ext cx="2057400" cy="1325880"/>
          </a:xfrm>
          <a:prstGeom prst="rect">
            <a:avLst/>
          </a:prstGeom>
          <a:solidFill>
            <a:srgbClr val="131318"/>
          </a:solidFill>
          <a:ln w="6350">
            <a:solidFill>
              <a:srgbClr val="3A3A4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26864" y="1691640"/>
            <a:ext cx="2057400" cy="32004"/>
          </a:xfrm>
          <a:prstGeom prst="rect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64024" y="17830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E83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NATIONAL TV PREMIERE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4718304" y="19659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S2</a:t>
            </a:r>
            <a:endParaRPr lang="en-US" sz="3400" dirty="0"/>
          </a:p>
        </p:txBody>
      </p:sp>
      <p:sp>
        <p:nvSpPr>
          <p:cNvPr id="21" name="Text 19"/>
          <p:cNvSpPr/>
          <p:nvPr/>
        </p:nvSpPr>
        <p:spPr>
          <a:xfrm>
            <a:off x="4718304" y="25420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America's Real Deal · Filmed Summer '26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803136" y="1691640"/>
            <a:ext cx="2057400" cy="1325880"/>
          </a:xfrm>
          <a:prstGeom prst="rect">
            <a:avLst/>
          </a:prstGeom>
          <a:solidFill>
            <a:srgbClr val="131318"/>
          </a:solidFill>
          <a:ln w="6350">
            <a:solidFill>
              <a:srgbClr val="3A3A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03136" y="1691640"/>
            <a:ext cx="2057400" cy="32004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0296" y="1783080"/>
            <a:ext cx="1828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spc="150" kern="0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PRE-SHELF AUDIENCE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6894576" y="196596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2.3M+</a:t>
            </a:r>
            <a:endParaRPr lang="en-US" sz="3400" dirty="0"/>
          </a:p>
        </p:txBody>
      </p:sp>
      <p:sp>
        <p:nvSpPr>
          <p:cNvPr id="26" name="Text 24"/>
          <p:cNvSpPr/>
          <p:nvPr/>
        </p:nvSpPr>
        <p:spPr>
          <a:xfrm>
            <a:off x="6894576" y="254203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Owned distribution before day one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274320" y="3127248"/>
            <a:ext cx="8595360" cy="27432"/>
          </a:xfrm>
          <a:prstGeom prst="rect">
            <a:avLst/>
          </a:prstGeom>
          <a:solidFill>
            <a:srgbClr val="3A3A4A"/>
          </a:solidFill>
          <a:ln w="12700">
            <a:solidFill>
              <a:srgbClr val="3A3A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74320" y="320040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E83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CAN PROVE TODAY — NOT PROJECTED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274320" y="3429000"/>
            <a:ext cx="201168" cy="201168"/>
          </a:xfrm>
          <a:prstGeom prst="rect">
            <a:avLst/>
          </a:prstGeom>
          <a:solidFill>
            <a:srgbClr val="2EC97A"/>
          </a:solidFill>
          <a:ln w="12700">
            <a:solidFill>
              <a:srgbClr val="2EC97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4320" y="342900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341071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30M+ projected impressions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48640" y="360273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179 signed creators · avg 168K reach · activating Summer 2026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74320" y="3858768"/>
            <a:ext cx="201168" cy="201168"/>
          </a:xfrm>
          <a:prstGeom prst="rect">
            <a:avLst/>
          </a:prstGeom>
          <a:solidFill>
            <a:srgbClr val="2EC97A"/>
          </a:solidFill>
          <a:ln w="12700">
            <a:solidFill>
              <a:srgbClr val="2EC97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4320" y="385876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8640" y="384048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pro team beta conversations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48640" y="403250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Clutch beta candidates · NBA + college programs · LOIs in progress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274320" y="4288536"/>
            <a:ext cx="201168" cy="201168"/>
          </a:xfrm>
          <a:prstGeom prst="rect">
            <a:avLst/>
          </a:prstGeom>
          <a:solidFill>
            <a:srgbClr val="2EC97A"/>
          </a:solidFill>
          <a:ln w="12700">
            <a:solidFill>
              <a:srgbClr val="2EC97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4320" y="4288536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548640" y="4270248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10+ athlete advisors confirmed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8640" y="446227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Founder network — NBA + Wall Street community · active ambassadors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572000" y="3429000"/>
            <a:ext cx="201168" cy="201168"/>
          </a:xfrm>
          <a:prstGeom prst="rect">
            <a:avLst/>
          </a:prstGeom>
          <a:solidFill>
            <a:srgbClr val="2EC97A"/>
          </a:solidFill>
          <a:ln w="12700">
            <a:solidFill>
              <a:srgbClr val="2EC97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0" y="3429000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846320" y="3410712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Supply chain locked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46320" y="3602736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Co-packer contracted · 3 SKUs · cans + sticks · Q2 production confirmed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572000" y="3858768"/>
            <a:ext cx="201168" cy="201168"/>
          </a:xfrm>
          <a:prstGeom prst="rect">
            <a:avLst/>
          </a:prstGeom>
          <a:solidFill>
            <a:srgbClr val="2EC97A"/>
          </a:solidFill>
          <a:ln w="12700">
            <a:solidFill>
              <a:srgbClr val="2EC97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572000" y="3858768"/>
            <a:ext cx="2011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846320" y="3840480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$49 blended CAC modeled conservatively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846320" y="4032504"/>
            <a:ext cx="3931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vs. Liquid IV $40–$70 industry range · creator-organic mix reduces paid dependency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274320" y="47548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 ready. System ready. Demand building.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5943600" y="4754880"/>
            <a:ext cx="2926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spc="50" kern="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SUPPLIERS LOCKED · Q2 2026 RETAIL ROLLOUT · SUMMER 2026 LAUNCH IS COMMITTED.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E83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— UNIT ECONOMICS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2011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18A / 24+5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475488"/>
            <a:ext cx="228600" cy="27432"/>
          </a:xfrm>
          <a:prstGeom prst="rect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029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BOTTOMS-UP MODEL · BENCHMARKED AGAINST OBSERVED CATEGORY DATA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Numbers built on </a:t>
            </a:r>
            <a:pPr indent="0" marL="0">
              <a:buNone/>
            </a:pPr>
            <a:r>
              <a:rPr lang="en-US" sz="2600" b="1" dirty="0">
                <a:solidFill>
                  <a:srgbClr val="4A7F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real benchmarks.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274320" y="123444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MIX · STEADY-STATE BLEND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74320" y="1417320"/>
            <a:ext cx="3438144" cy="256032"/>
          </a:xfrm>
          <a:prstGeom prst="rect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1435608"/>
            <a:ext cx="33649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  Hydration Drinks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749040" y="1417320"/>
            <a:ext cx="2112264" cy="256032"/>
          </a:xfrm>
          <a:prstGeom prst="rect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22192" y="1435608"/>
            <a:ext cx="203911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  Hydration Sticks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897880" y="1417320"/>
            <a:ext cx="1682496" cy="25603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71032" y="1435608"/>
            <a:ext cx="1609344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0A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  Energy Drinks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7616952" y="1417320"/>
            <a:ext cx="1261872" cy="256032"/>
          </a:xfrm>
          <a:prstGeom prst="rect">
            <a:avLst/>
          </a:prstGeom>
          <a:solidFill>
            <a:srgbClr val="3A3A4A"/>
          </a:solidFill>
          <a:ln w="12700">
            <a:solidFill>
              <a:srgbClr val="3A3A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90104" y="1435608"/>
            <a:ext cx="1188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  Canisters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1783080"/>
            <a:ext cx="4069080" cy="2606040"/>
          </a:xfrm>
          <a:prstGeom prst="rect">
            <a:avLst/>
          </a:prstGeom>
          <a:solidFill>
            <a:srgbClr val="131318"/>
          </a:solidFill>
          <a:ln w="6350">
            <a:solidFill>
              <a:srgbClr val="3A3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8745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UNIT-ECONOMIC EQUATION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57200" y="2039112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 AOV  ×  5–7x /yr  ×  65% GM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57200" y="2359152"/>
            <a:ext cx="3474720" cy="18288"/>
          </a:xfrm>
          <a:prstGeom prst="rect">
            <a:avLst/>
          </a:prstGeom>
          <a:solidFill>
            <a:srgbClr val="3A3A4A"/>
          </a:solidFill>
          <a:ln w="12700">
            <a:solidFill>
              <a:srgbClr val="3A3A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2395728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83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= $383 CLTV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57200" y="282549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÷ $49 CAC  =  5:1 LTV:CAC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127248"/>
            <a:ext cx="3566160" cy="777240"/>
          </a:xfrm>
          <a:prstGeom prst="rect">
            <a:avLst/>
          </a:prstGeom>
          <a:solidFill>
            <a:srgbClr val="1A1A22"/>
          </a:solidFill>
          <a:ln w="6350">
            <a:solidFill>
              <a:srgbClr val="3A3A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163824"/>
            <a:ext cx="3200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spc="150" kern="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TEST · DOWNSIDE CASE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594360" y="3346704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$75 CAC · 4x repeat · 65% GM → 2.8:1 LTV:CAC · still venture-grade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34840" y="1783080"/>
            <a:ext cx="4434840" cy="2606040"/>
          </a:xfrm>
          <a:prstGeom prst="rect">
            <a:avLst/>
          </a:prstGeom>
          <a:solidFill>
            <a:srgbClr val="131318"/>
          </a:solidFill>
          <a:ln w="6350">
            <a:solidFill>
              <a:srgbClr val="4A7FD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434840" y="1783080"/>
            <a:ext cx="4434840" cy="36576"/>
          </a:xfrm>
          <a:prstGeom prst="rect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18745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4A7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PURCHASE ASSUMPTION — BENCHMARKED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462272" y="2103120"/>
            <a:ext cx="54864" cy="41148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0" y="2121408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 I.V.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0" y="2313432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6–8x / yr  ·  CAC $45–$65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766560" y="2176272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Unilever acquisition disclosures · DTC repeat cohort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462272" y="2633472"/>
            <a:ext cx="54864" cy="411480"/>
          </a:xfrm>
          <a:prstGeom prst="rect">
            <a:avLst/>
          </a:prstGeom>
          <a:solidFill>
            <a:srgbClr val="2EC97A"/>
          </a:solidFill>
          <a:ln w="12700">
            <a:solidFill>
              <a:srgbClr val="2EC97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0" y="2651760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LMNT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0" y="2843784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EC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7–10x / yr  ·  CAC $38–$55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766560" y="2706624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Subscription-led model · 80%+ revenue from repeat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462272" y="3163824"/>
            <a:ext cx="54864" cy="411480"/>
          </a:xfrm>
          <a:prstGeom prst="rect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0" y="31821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Athletic Greens / AG1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572000" y="3374136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B6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12x / yr  ·  CAC $90–$130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766560" y="3236976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Subscription-only · high CAC justified by LTV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4462272" y="3694176"/>
            <a:ext cx="54864" cy="411480"/>
          </a:xfrm>
          <a:prstGeom prst="rect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572000" y="371246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AForce (modeled)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0" y="3904488"/>
            <a:ext cx="2103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83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5–7x / yr  ·  CAC $49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766560" y="3767328"/>
            <a:ext cx="1920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vs. category. OS subscription increases retention.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274320" y="4645152"/>
            <a:ext cx="8595360" cy="365760"/>
          </a:xfrm>
          <a:prstGeom prst="rect">
            <a:avLst/>
          </a:prstGeom>
          <a:solidFill>
            <a:srgbClr val="1A1A22"/>
          </a:solidFill>
          <a:ln w="6350">
            <a:solidFill>
              <a:srgbClr val="3A3A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11480" y="4663440"/>
            <a:ext cx="8321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AForce OS · SaaS Layer: </a:t>
            </a:r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$5–$15/mo tiers  ·  2.5–3 yr customer lifespan  ·  90%+ gross margin  ·  </a:t>
            </a:r>
            <a:pPr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Modeled as upside — partial conversion only. Base case does not require it.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E83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— FINANCIAL PROJECTIONS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2011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21A / 24+5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475488"/>
            <a:ext cx="228600" cy="27432"/>
          </a:xfrm>
          <a:prstGeom prst="rect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029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PROJECTIONS · 2026 — 2028 · ASSUMPTIONS DISCLOSED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658368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Scaling a </a:t>
            </a:r>
            <a:pPr indent="0" marL="0">
              <a:buNone/>
            </a:pPr>
            <a:r>
              <a:rPr lang="en-US" sz="3400" b="1" dirty="0">
                <a:solidFill>
                  <a:srgbClr val="4A7F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performance system.</a:t>
            </a:r>
            <a:endParaRPr lang="en-US" sz="34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274320" y="1508760"/>
          <a:ext cx="4206240" cy="2377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3931920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8.7×  revenue growth 2026→2028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365760" y="4206240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2027 breakeven  ·  62% gross margin '28  ·  42% contribution margin '28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63440" y="1481328"/>
            <a:ext cx="4160520" cy="3401568"/>
          </a:xfrm>
          <a:prstGeom prst="rect">
            <a:avLst/>
          </a:prstGeom>
          <a:solidFill>
            <a:srgbClr val="131318"/>
          </a:solidFill>
          <a:ln w="6350">
            <a:solidFill>
              <a:srgbClr val="3A3A4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800600" y="1572768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ASSUMPTIONS — HOW WE BUILD TO THESE NUMBERS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4681728" y="1883664"/>
            <a:ext cx="45720" cy="201168"/>
          </a:xfrm>
          <a:prstGeom prst="rect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800600" y="182880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 customers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492240" y="182880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~10,000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800600" y="200253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60K orders ÷ 5.7x repeat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754880" y="2167128"/>
            <a:ext cx="3977640" cy="7315"/>
          </a:xfrm>
          <a:prstGeom prst="rect">
            <a:avLst/>
          </a:prstGeom>
          <a:solidFill>
            <a:srgbClr val="3A3A4A"/>
          </a:solidFill>
          <a:ln w="12700">
            <a:solidFill>
              <a:srgbClr val="3A3A4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681728" y="2231136"/>
            <a:ext cx="45720" cy="201168"/>
          </a:xfrm>
          <a:prstGeom prst="rect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800600" y="217627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 customers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6492240" y="217627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~35,000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4800600" y="235000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3.5× growth + national retail</a:t>
            </a:r>
            <a:endParaRPr lang="en-US" sz="750" dirty="0"/>
          </a:p>
        </p:txBody>
      </p:sp>
      <p:sp>
        <p:nvSpPr>
          <p:cNvPr id="21" name="Shape 18"/>
          <p:cNvSpPr/>
          <p:nvPr/>
        </p:nvSpPr>
        <p:spPr>
          <a:xfrm>
            <a:off x="4754880" y="2514600"/>
            <a:ext cx="3977640" cy="7315"/>
          </a:xfrm>
          <a:prstGeom prst="rect">
            <a:avLst/>
          </a:prstGeom>
          <a:solidFill>
            <a:srgbClr val="3A3A4A"/>
          </a:solidFill>
          <a:ln w="12700">
            <a:solidFill>
              <a:srgbClr val="3A3A4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681728" y="2578608"/>
            <a:ext cx="45720" cy="201168"/>
          </a:xfrm>
          <a:prstGeom prst="rect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800600" y="252374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 customers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6492240" y="252374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~75,000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4800600" y="269748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2.1× growth + Whole Foods / Sprouts</a:t>
            </a:r>
            <a:endParaRPr lang="en-US" sz="750" dirty="0"/>
          </a:p>
        </p:txBody>
      </p:sp>
      <p:sp>
        <p:nvSpPr>
          <p:cNvPr id="26" name="Shape 23"/>
          <p:cNvSpPr/>
          <p:nvPr/>
        </p:nvSpPr>
        <p:spPr>
          <a:xfrm>
            <a:off x="4754880" y="2862072"/>
            <a:ext cx="3977640" cy="7315"/>
          </a:xfrm>
          <a:prstGeom prst="rect">
            <a:avLst/>
          </a:prstGeom>
          <a:solidFill>
            <a:srgbClr val="3A3A4A"/>
          </a:solidFill>
          <a:ln w="12700">
            <a:solidFill>
              <a:srgbClr val="3A3A4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681728" y="2926080"/>
            <a:ext cx="45720" cy="20116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800600" y="287121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AOV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492240" y="287121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$52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4800600" y="304495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Benchmarked vs. Liquid IV ($48) / LMNT ($55)</a:t>
            </a:r>
            <a:endParaRPr lang="en-US" sz="750" dirty="0"/>
          </a:p>
        </p:txBody>
      </p:sp>
      <p:sp>
        <p:nvSpPr>
          <p:cNvPr id="31" name="Shape 28"/>
          <p:cNvSpPr/>
          <p:nvPr/>
        </p:nvSpPr>
        <p:spPr>
          <a:xfrm>
            <a:off x="4754880" y="3209544"/>
            <a:ext cx="3977640" cy="7315"/>
          </a:xfrm>
          <a:prstGeom prst="rect">
            <a:avLst/>
          </a:prstGeom>
          <a:solidFill>
            <a:srgbClr val="3A3A4A"/>
          </a:solidFill>
          <a:ln w="12700">
            <a:solidFill>
              <a:srgbClr val="3A3A4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681728" y="3273552"/>
            <a:ext cx="45720" cy="201168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800600" y="3218688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rate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6492240" y="3218688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5–7x / yr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4800600" y="3392424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Conservative vs. Liquid IV (6–8x)</a:t>
            </a:r>
            <a:endParaRPr lang="en-US" sz="750" dirty="0"/>
          </a:p>
        </p:txBody>
      </p:sp>
      <p:sp>
        <p:nvSpPr>
          <p:cNvPr id="36" name="Shape 33"/>
          <p:cNvSpPr/>
          <p:nvPr/>
        </p:nvSpPr>
        <p:spPr>
          <a:xfrm>
            <a:off x="4754880" y="3557016"/>
            <a:ext cx="3977640" cy="7315"/>
          </a:xfrm>
          <a:prstGeom prst="rect">
            <a:avLst/>
          </a:prstGeom>
          <a:solidFill>
            <a:srgbClr val="3A3A4A"/>
          </a:solidFill>
          <a:ln w="12700">
            <a:solidFill>
              <a:srgbClr val="3A3A4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681728" y="3621024"/>
            <a:ext cx="45720" cy="201168"/>
          </a:xfrm>
          <a:prstGeom prst="rect">
            <a:avLst/>
          </a:prstGeom>
          <a:solidFill>
            <a:srgbClr val="2EC97A"/>
          </a:solidFill>
          <a:ln w="12700">
            <a:solidFill>
              <a:srgbClr val="2EC97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800600" y="35661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6492240" y="3566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62–65%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4800600" y="3739896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Co-packer locked · $1.85–$2.40 COGS/unit</a:t>
            </a:r>
            <a:endParaRPr lang="en-US" sz="750" dirty="0"/>
          </a:p>
        </p:txBody>
      </p:sp>
      <p:sp>
        <p:nvSpPr>
          <p:cNvPr id="41" name="Shape 38"/>
          <p:cNvSpPr/>
          <p:nvPr/>
        </p:nvSpPr>
        <p:spPr>
          <a:xfrm>
            <a:off x="4754880" y="3904488"/>
            <a:ext cx="3977640" cy="7315"/>
          </a:xfrm>
          <a:prstGeom prst="rect">
            <a:avLst/>
          </a:prstGeom>
          <a:solidFill>
            <a:srgbClr val="3A3A4A"/>
          </a:solidFill>
          <a:ln w="12700">
            <a:solidFill>
              <a:srgbClr val="3A3A4A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4681728" y="3968496"/>
            <a:ext cx="45720" cy="201168"/>
          </a:xfrm>
          <a:prstGeom prst="rect">
            <a:avLst/>
          </a:prstGeom>
          <a:solidFill>
            <a:srgbClr val="2EC97A"/>
          </a:solidFill>
          <a:ln w="12700">
            <a:solidFill>
              <a:srgbClr val="2EC97A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4800600" y="3913632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Blended CAC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6492240" y="3913632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~$49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4800600" y="4087368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DTC + paid social + creator · scales down</a:t>
            </a:r>
            <a:endParaRPr lang="en-US" sz="750" dirty="0"/>
          </a:p>
        </p:txBody>
      </p:sp>
      <p:sp>
        <p:nvSpPr>
          <p:cNvPr id="46" name="Shape 43"/>
          <p:cNvSpPr/>
          <p:nvPr/>
        </p:nvSpPr>
        <p:spPr>
          <a:xfrm>
            <a:off x="4754880" y="4251960"/>
            <a:ext cx="3977640" cy="7315"/>
          </a:xfrm>
          <a:prstGeom prst="rect">
            <a:avLst/>
          </a:prstGeom>
          <a:solidFill>
            <a:srgbClr val="3A3A4A"/>
          </a:solidFill>
          <a:ln w="12700">
            <a:solidFill>
              <a:srgbClr val="3A3A4A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4681728" y="4315968"/>
            <a:ext cx="45720" cy="201168"/>
          </a:xfrm>
          <a:prstGeom prst="rect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800600" y="4261104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Retail door target</a:t>
            </a:r>
            <a:endParaRPr lang="en-US" sz="900" dirty="0"/>
          </a:p>
        </p:txBody>
      </p:sp>
      <p:sp>
        <p:nvSpPr>
          <p:cNvPr id="49" name="Text 46"/>
          <p:cNvSpPr/>
          <p:nvPr/>
        </p:nvSpPr>
        <p:spPr>
          <a:xfrm>
            <a:off x="6492240" y="4261104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2,500 by EOY2</a:t>
            </a:r>
            <a:endParaRPr lang="en-US" sz="1000" dirty="0"/>
          </a:p>
        </p:txBody>
      </p:sp>
      <p:sp>
        <p:nvSpPr>
          <p:cNvPr id="50" name="Text 47"/>
          <p:cNvSpPr/>
          <p:nvPr/>
        </p:nvSpPr>
        <p:spPr>
          <a:xfrm>
            <a:off x="4800600" y="4434840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NYC/LA/Miami seed → national by mo 18</a:t>
            </a:r>
            <a:endParaRPr lang="en-US" sz="750" dirty="0"/>
          </a:p>
        </p:txBody>
      </p:sp>
      <p:sp>
        <p:nvSpPr>
          <p:cNvPr id="51" name="Shape 48"/>
          <p:cNvSpPr/>
          <p:nvPr/>
        </p:nvSpPr>
        <p:spPr>
          <a:xfrm>
            <a:off x="4754880" y="4599432"/>
            <a:ext cx="3977640" cy="7315"/>
          </a:xfrm>
          <a:prstGeom prst="rect">
            <a:avLst/>
          </a:prstGeom>
          <a:solidFill>
            <a:srgbClr val="3A3A4A"/>
          </a:solidFill>
          <a:ln w="12700">
            <a:solidFill>
              <a:srgbClr val="3A3A4A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4681728" y="4663440"/>
            <a:ext cx="45720" cy="201168"/>
          </a:xfrm>
          <a:prstGeom prst="rect">
            <a:avLst/>
          </a:prstGeom>
          <a:solidFill>
            <a:srgbClr val="E8334A"/>
          </a:solidFill>
          <a:ln w="12700">
            <a:solidFill>
              <a:srgbClr val="E8334A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4800600" y="4608576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attach rate</a:t>
            </a:r>
            <a:endParaRPr lang="en-US" sz="900" dirty="0"/>
          </a:p>
        </p:txBody>
      </p:sp>
      <p:sp>
        <p:nvSpPr>
          <p:cNvPr id="54" name="Text 51"/>
          <p:cNvSpPr/>
          <p:nvPr/>
        </p:nvSpPr>
        <p:spPr>
          <a:xfrm>
            <a:off x="6492240" y="4608576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 by Y2</a:t>
            </a:r>
            <a:endParaRPr lang="en-US" sz="1000" dirty="0"/>
          </a:p>
        </p:txBody>
      </p:sp>
      <p:sp>
        <p:nvSpPr>
          <p:cNvPr id="55" name="Text 52"/>
          <p:cNvSpPr/>
          <p:nvPr/>
        </p:nvSpPr>
        <p:spPr>
          <a:xfrm>
            <a:off x="4800600" y="4782312"/>
            <a:ext cx="3840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Upside only — not required for base case</a:t>
            </a:r>
            <a:endParaRPr lang="en-US" sz="750" dirty="0"/>
          </a:p>
        </p:txBody>
      </p:sp>
      <p:sp>
        <p:nvSpPr>
          <p:cNvPr id="56" name="Text 53"/>
          <p:cNvSpPr/>
          <p:nvPr/>
        </p:nvSpPr>
        <p:spPr>
          <a:xfrm>
            <a:off x="274320" y="491947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Forward-looking statements · Management projections based on current assumptions; not guarantees of future performance.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E83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7A — AFORCE OS — TECH PROOF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2011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7A / 24+5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475488"/>
            <a:ext cx="228600" cy="27432"/>
          </a:xfrm>
          <a:prstGeom prst="rect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029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BUILT TODAY VS. ROADMAP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 a vision.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9B6D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system already running.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4114800" cy="3337560"/>
          </a:xfrm>
          <a:prstGeom prst="rect">
            <a:avLst/>
          </a:prstGeom>
          <a:solidFill>
            <a:srgbClr val="131318"/>
          </a:solidFill>
          <a:ln w="6350">
            <a:solidFill>
              <a:srgbClr val="2EC97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508760"/>
            <a:ext cx="4114800" cy="36576"/>
          </a:xfrm>
          <a:prstGeom prst="rect">
            <a:avLst/>
          </a:prstGeom>
          <a:solidFill>
            <a:srgbClr val="2EC97A"/>
          </a:solidFill>
          <a:ln w="12700">
            <a:solidFill>
              <a:srgbClr val="2EC9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572768"/>
            <a:ext cx="3749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2EC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&amp; FUNCTIONAL TODAY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" y="1865376"/>
            <a:ext cx="36576" cy="457200"/>
          </a:xfrm>
          <a:prstGeom prst="rect">
            <a:avLst/>
          </a:prstGeom>
          <a:solidFill>
            <a:srgbClr val="2EC97A"/>
          </a:solidFill>
          <a:ln w="12700">
            <a:solidFill>
              <a:srgbClr val="2EC9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28800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AForce OS App (iOS + Android)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075688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orb · real-time state tracking · hydration prompts · BAC social mode · recovery plan engine. Live in TestFlight.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569464"/>
            <a:ext cx="36576" cy="457200"/>
          </a:xfrm>
          <a:prstGeom prst="rect">
            <a:avLst/>
          </a:prstGeom>
          <a:solidFill>
            <a:srgbClr val="2EC97A"/>
          </a:solidFill>
          <a:ln w="12700">
            <a:solidFill>
              <a:srgbClr val="2EC97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32888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Closed-loop algorithm v1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779776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Drink → Score → Coach loop functional. Pulls weather API, activity, intake. 5,000+ engineering hours logged.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3273552"/>
            <a:ext cx="36576" cy="457200"/>
          </a:xfrm>
          <a:prstGeom prst="rect">
            <a:avLst/>
          </a:prstGeom>
          <a:solidFill>
            <a:srgbClr val="2EC97A"/>
          </a:solidFill>
          <a:ln w="12700">
            <a:solidFill>
              <a:srgbClr val="2EC9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36976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scoring model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483864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0–100 composite score. Hydration + activity + environment variables. Adaptive coefficients per user profile.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3977640"/>
            <a:ext cx="36576" cy="457200"/>
          </a:xfrm>
          <a:prstGeom prst="rect">
            <a:avLst/>
          </a:prstGeom>
          <a:solidFill>
            <a:srgbClr val="2EC97A"/>
          </a:solidFill>
          <a:ln w="12700">
            <a:solidFill>
              <a:srgbClr val="2EC97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941064"/>
            <a:ext cx="3749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Patent filed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187952"/>
            <a:ext cx="3749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U.S. Provisional App 64/057,695 · Filed May 5, 2026 · 'Closed-Loop Real-Time Physiological Performance Operating System'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26280" y="1508760"/>
            <a:ext cx="4343400" cy="3337560"/>
          </a:xfrm>
          <a:prstGeom prst="rect">
            <a:avLst/>
          </a:prstGeom>
          <a:solidFill>
            <a:srgbClr val="131318"/>
          </a:solidFill>
          <a:ln w="6350">
            <a:solidFill>
              <a:srgbClr val="3A3A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26280" y="1508760"/>
            <a:ext cx="4343400" cy="36576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1572768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ROADMAP — FUNDED BY THIS RAISE OR NEXT ROUND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572000" y="1865376"/>
            <a:ext cx="36576" cy="45720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18288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Coach v1 · Phase 1 Consumer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498080" y="1865376"/>
            <a:ext cx="1234440" cy="201168"/>
          </a:xfrm>
          <a:prstGeom prst="rect">
            <a:avLst/>
          </a:prstGeom>
          <a:solidFill>
            <a:srgbClr val="1A1A22"/>
          </a:solidFill>
          <a:ln w="6350">
            <a:solidFill>
              <a:srgbClr val="F5C84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0" y="1865376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 2026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709160" y="2075688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voice command. Mode-aware coaching. Adaptive protocol rewrites from live biometrics. $800K allocated from this raise.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0" y="2569464"/>
            <a:ext cx="36576" cy="45720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9160" y="2532888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Clutch — Coach-side roster grid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7498080" y="2569464"/>
            <a:ext cx="1234440" cy="201168"/>
          </a:xfrm>
          <a:prstGeom prst="rect">
            <a:avLst/>
          </a:prstGeom>
          <a:solidFill>
            <a:srgbClr val="1A1A22"/>
          </a:solidFill>
          <a:ln w="6350">
            <a:solidFill>
              <a:srgbClr val="F5C84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98080" y="2569464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709160" y="2779776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Per-seat SaaS for athletic programs. Live roster tier system: PLATINUM → DEPLETED. Beta conversations with 3 pro teams now.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572000" y="3273552"/>
            <a:ext cx="36576" cy="45720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3236976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Guardian — Enterprise risk layer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498080" y="3273552"/>
            <a:ext cx="1234440" cy="201168"/>
          </a:xfrm>
          <a:prstGeom prst="rect">
            <a:avLst/>
          </a:prstGeom>
          <a:solidFill>
            <a:srgbClr val="1A1A22"/>
          </a:solidFill>
          <a:ln w="6350">
            <a:solidFill>
              <a:srgbClr val="F5C84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498080" y="3273552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2027+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4709160" y="3483864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Composite risk score per athlete. Medical escalation paths. $120K/franchise/yr target ACV. Pilot scoping in progress.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72000" y="3977640"/>
            <a:ext cx="36576" cy="457200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09160" y="3941064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Phantom One — Wearable band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7498080" y="3977640"/>
            <a:ext cx="1234440" cy="201168"/>
          </a:xfrm>
          <a:prstGeom prst="rect">
            <a:avLst/>
          </a:prstGeom>
          <a:solidFill>
            <a:srgbClr val="1A1A22"/>
          </a:solidFill>
          <a:ln w="6350">
            <a:solidFill>
              <a:srgbClr val="F5C84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98080" y="3977640"/>
            <a:ext cx="1234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2+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4709160" y="4187952"/>
            <a:ext cx="4069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bio-signal capture. No screen. LED color state. Funded by OS data revenue — $0 of this raise allocated.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74320" y="4892040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can is ready. The OS is running. The loop is closed.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6217920" y="4892040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spc="50" kern="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5,000+ ENGINEERING HOURS · TESTFLIGHT LIVE · PATENT FILED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116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200" kern="0" dirty="0">
                <a:solidFill>
                  <a:srgbClr val="E83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— MARKET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7772400" y="201168"/>
            <a:ext cx="1005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12A / 24+5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365760" y="475488"/>
            <a:ext cx="228600" cy="27432"/>
          </a:xfrm>
          <a:prstGeom prst="rect">
            <a:avLst/>
          </a:prstGeom>
          <a:solidFill>
            <a:srgbClr val="F5C842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502920"/>
            <a:ext cx="8229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200" kern="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· BOTTOMS-UP SIZING · SOURCE-CITED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6858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 real market,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5C842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sized honestly.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74320" y="1572768"/>
            <a:ext cx="8595360" cy="502920"/>
          </a:xfrm>
          <a:prstGeom prst="rect">
            <a:avLst/>
          </a:prstGeom>
          <a:solidFill>
            <a:srgbClr val="1A1A22"/>
          </a:solidFill>
          <a:ln w="6350">
            <a:solidFill>
              <a:srgbClr val="3A3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609344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C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Methodology: </a:t>
            </a:r>
            <a:pPr indent="0" marL="0">
              <a:buNone/>
            </a:pPr>
            <a:r>
              <a:rPr lang="en-US" sz="95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size each market independently, not additively. Phase 1 TAM = US functional bev only ($12.4B). Future phases unlock team SaaS and enterprise — we show them separately, not summed. SOM is a bottoms-up customer build, not a percentage.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2176272"/>
            <a:ext cx="2788920" cy="2514600"/>
          </a:xfrm>
          <a:prstGeom prst="rect">
            <a:avLst/>
          </a:prstGeom>
          <a:solidFill>
            <a:srgbClr val="131318"/>
          </a:solidFill>
          <a:ln w="6350">
            <a:solidFill>
              <a:srgbClr val="2EC97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2176272"/>
            <a:ext cx="2788920" cy="36576"/>
          </a:xfrm>
          <a:prstGeom prst="rect">
            <a:avLst/>
          </a:prstGeom>
          <a:solidFill>
            <a:srgbClr val="2EC97A"/>
          </a:solidFill>
          <a:ln w="12700">
            <a:solidFill>
              <a:srgbClr val="2EC97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224942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2EC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— NOW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84048" y="242316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$12.4B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84048" y="29535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2EC9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 FUNCTIONAL BEVERAGE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84048" y="317296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AForce's direct category today. Premium hydration + alkaline + sports use case. Clean-label, no sugar segment growing 18% YoY.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84048" y="377647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SPINS retail data 2024 · Grand View Research</a:t>
            </a:r>
            <a:endParaRPr lang="en-US" sz="700" dirty="0"/>
          </a:p>
        </p:txBody>
      </p:sp>
      <p:sp>
        <p:nvSpPr>
          <p:cNvPr id="16" name="Shape 14"/>
          <p:cNvSpPr/>
          <p:nvPr/>
        </p:nvSpPr>
        <p:spPr>
          <a:xfrm>
            <a:off x="365760" y="4005072"/>
            <a:ext cx="2606040" cy="548640"/>
          </a:xfrm>
          <a:prstGeom prst="rect">
            <a:avLst/>
          </a:prstGeom>
          <a:solidFill>
            <a:srgbClr val="1A1A22"/>
          </a:solidFill>
          <a:ln w="6350">
            <a:solidFill>
              <a:srgbClr val="2EC97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0233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C97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$48M SOM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" y="42519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~0.4% capture = 50K customers @ $52 AOV × 7x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154680" y="2176272"/>
            <a:ext cx="2788920" cy="2514600"/>
          </a:xfrm>
          <a:prstGeom prst="rect">
            <a:avLst/>
          </a:prstGeom>
          <a:solidFill>
            <a:srgbClr val="131318"/>
          </a:solidFill>
          <a:ln w="6350">
            <a:solidFill>
              <a:srgbClr val="4A7FD4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54680" y="2176272"/>
            <a:ext cx="2788920" cy="36576"/>
          </a:xfrm>
          <a:prstGeom prst="rect">
            <a:avLst/>
          </a:prstGeom>
          <a:solidFill>
            <a:srgbClr val="4A7FD4"/>
          </a:solidFill>
          <a:ln w="12700">
            <a:solidFill>
              <a:srgbClr val="4A7FD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64408" y="224942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4A7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— 2027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64408" y="242316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$4B+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3264408" y="29535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4A7FD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PERFORMANCE SAAS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264408" y="317296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Coach-side software for athletic programs. Per-seat recurring SaaS. High school to professional. Clutch product addresses this market.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264408" y="377647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MarketsandMarkets sports analytics report 2024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246120" y="4005072"/>
            <a:ext cx="2606040" cy="548640"/>
          </a:xfrm>
          <a:prstGeom prst="rect">
            <a:avLst/>
          </a:prstGeom>
          <a:solidFill>
            <a:srgbClr val="1A1A22"/>
          </a:solidFill>
          <a:ln w="6350">
            <a:solidFill>
              <a:srgbClr val="4A7FD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40233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7FD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$32M SOM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337560" y="42519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 teams × $40K ACV = Phase 2 ceiling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6035040" y="2176272"/>
            <a:ext cx="2788920" cy="2514600"/>
          </a:xfrm>
          <a:prstGeom prst="rect">
            <a:avLst/>
          </a:prstGeom>
          <a:solidFill>
            <a:srgbClr val="131318"/>
          </a:solidFill>
          <a:ln w="6350">
            <a:solidFill>
              <a:srgbClr val="9B6D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2176272"/>
            <a:ext cx="2788920" cy="36576"/>
          </a:xfrm>
          <a:prstGeom prst="rect">
            <a:avLst/>
          </a:prstGeom>
          <a:solidFill>
            <a:srgbClr val="9B6DFF"/>
          </a:solidFill>
          <a:ln w="12700">
            <a:solidFill>
              <a:srgbClr val="9B6D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44768" y="2249424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spc="120" kern="0" dirty="0">
                <a:solidFill>
                  <a:srgbClr val="9B6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— 2027+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144768" y="2423160"/>
            <a:ext cx="2560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$12B+</a:t>
            </a:r>
            <a:endParaRPr lang="en-US" sz="3800" dirty="0"/>
          </a:p>
        </p:txBody>
      </p:sp>
      <p:sp>
        <p:nvSpPr>
          <p:cNvPr id="33" name="Text 31"/>
          <p:cNvSpPr/>
          <p:nvPr/>
        </p:nvSpPr>
        <p:spPr>
          <a:xfrm>
            <a:off x="6144768" y="29535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spc="50" kern="0" dirty="0">
                <a:solidFill>
                  <a:srgbClr val="9B6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SPORTS MED + READINESS RISK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144768" y="3172968"/>
            <a:ext cx="2560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injury prevention and readiness monitoring. Guardian product. Five-figure ACV contracts with sports orgs + military.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144768" y="377647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Deloitte sports technology outlook 2024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6126480" y="4005072"/>
            <a:ext cx="2606040" cy="548640"/>
          </a:xfrm>
          <a:prstGeom prst="rect">
            <a:avLst/>
          </a:prstGeom>
          <a:solidFill>
            <a:srgbClr val="1A1A22"/>
          </a:solidFill>
          <a:ln w="6350">
            <a:solidFill>
              <a:srgbClr val="9B6D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0" y="402336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B6D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$60M SOM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217920" y="425196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 orgs × $120K ACV = Phase 3 ceiling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274320" y="4754880"/>
            <a:ext cx="6858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AForce captures Phase 1 now. Each phase unlocks new revenue — not a hockey stick from day one.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7315200" y="4800600"/>
            <a:ext cx="1554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spc="30" kern="0" dirty="0">
                <a:solidFill>
                  <a:srgbClr val="8A8A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TAM / SAM / SOM PER PHASE · INDEPENDENT SIZING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AForce Hydration – Upgraded Slides</dc:title>
  <dc:subject>PptxGenJS Presentation</dc:subject>
  <dc:creator>PptxGenJS</dc:creator>
  <cp:lastModifiedBy>PptxGenJS</cp:lastModifiedBy>
  <cp:revision>1</cp:revision>
  <dcterms:created xsi:type="dcterms:W3CDTF">2026-05-13T00:07:56Z</dcterms:created>
  <dcterms:modified xsi:type="dcterms:W3CDTF">2026-05-13T00:07:56Z</dcterms:modified>
</cp:coreProperties>
</file>